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920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441448" y="4873752"/>
            <a:ext cx="4873752" cy="487375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1371600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40AF"/>
                </a:solidFill>
              </a:defRPr>
            </a:pPr>
            <a:r>
              <a:t>BOARD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0" y="1965960"/>
            <a:ext cx="457200" cy="9144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3774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F2B46"/>
                </a:solidFill>
                <a:latin typeface="Montserrat"/>
              </a:defRPr>
            </a:pPr>
            <a:r>
              <a:t>DSI Loyalty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6B7280"/>
                </a:solidFill>
                <a:latin typeface="Inter"/>
              </a:defRPr>
            </a:pPr>
            <a:r>
              <a:t>Redefining Digital Rewards</a:t>
            </a:r>
          </a:p>
          <a:p>
            <a:r>
              <a:t>and Incentives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937760"/>
            <a:ext cx="9144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53035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Inter"/>
              </a:defRPr>
            </a:pPr>
            <a:r>
              <a:t>A multi-sided platform architecture for seamless rewards, gift card orchestration, and vendor ecosystem engagement.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Inter"/>
              </a:defRPr>
            </a:pPr>
            <a: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806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B46"/>
                </a:solidFill>
                <a:latin typeface="Inter"/>
              </a:defRPr>
            </a:pPr>
            <a:r>
              <a:t>Executive Leadership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52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Inter"/>
              </a:defRPr>
            </a:pPr>
            <a: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5806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F2B46"/>
                </a:solidFill>
                <a:latin typeface="Inter"/>
              </a:defRPr>
            </a:pPr>
            <a:r>
              <a:t>January 23, 2026</a:t>
            </a:r>
          </a:p>
        </p:txBody>
      </p:sp>
      <p:sp>
        <p:nvSpPr>
          <p:cNvPr id="15" name="Oval 14"/>
          <p:cNvSpPr/>
          <p:nvPr/>
        </p:nvSpPr>
        <p:spPr>
          <a:xfrm>
            <a:off x="9902952" y="1371600"/>
            <a:ext cx="1828800" cy="1828800"/>
          </a:xfrm>
          <a:prstGeom prst="ellipse">
            <a:avLst/>
          </a:prstGeom>
          <a:noFill/>
          <a:ln w="25400">
            <a:solidFill>
              <a:srgbClr val="0F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77272" y="1645920"/>
            <a:ext cx="1280160" cy="1280160"/>
          </a:xfrm>
          <a:prstGeom prst="ellipse">
            <a:avLst/>
          </a:prstGeom>
          <a:noFill/>
          <a:ln w="25400">
            <a:solidFill>
              <a:srgbClr val="0F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60152" y="1828800"/>
            <a:ext cx="731520" cy="731520"/>
          </a:xfrm>
          <a:prstGeom prst="ellipse">
            <a:avLst/>
          </a:prstGeom>
          <a:noFill/>
          <a:ln w="25400">
            <a:solidFill>
              <a:srgbClr val="0F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25912" y="1371600"/>
            <a:ext cx="45720" cy="18288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02952" y="2286000"/>
            <a:ext cx="1828800" cy="457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